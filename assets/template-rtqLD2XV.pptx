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7"/>
  </p:notesMasterIdLst>
  <p:sldIdLst>
    <p:sldId id="256" r:id="rId2"/>
    <p:sldId id="275" r:id="rId3"/>
    <p:sldId id="282" r:id="rId4"/>
    <p:sldId id="335" r:id="rId5"/>
    <p:sldId id="33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BFF5"/>
    <a:srgbClr val="050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FB6257-3620-4C3A-8815-AA8DB553D916}" v="5" dt="2025-12-04T07:50:19.910"/>
  </p1510:revLst>
</p1510:revInfo>
</file>

<file path=ppt/tableStyles.xml><?xml version="1.0" encoding="utf-8"?>
<a:tblStyleLst xmlns:a="http://schemas.openxmlformats.org/drawingml/2006/main" def="{5C22544A-7EE6-4342-B048-85BDC9FD1C3A}"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1D0330-BB0B-4ECF-B6F3-A45D92784E1C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87B59-CDAE-40D9-8429-C7BE38B58D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9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87B59-CDAE-40D9-8429-C7BE38B58D8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237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Abbreviations: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 = absolute risk reduction; CV = cardiovascular; hHF = hospitalization for heart failure; HR = hazard ratio; LVEF = left ventricular ejection fraction; MACE = major adverse cardiovascular events; MI = myocardial infarction; RR = rate ratio; RRR = relative risk reduction.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Speaker Notes: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CV death was defined differently in the DAPA-HF and DELIVER trials. In the DAPA-HF trial, undetermined causes of death were adjudicated as a CV death, while these events were excluded from the definition of CV death in the DELIVER trial.</a:t>
            </a:r>
          </a:p>
          <a:p>
            <a:pPr marL="347472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the pre-specified statistical analysis plan of the pooled analysis, the definition of CV death included deaths of undetermined causes. </a:t>
            </a:r>
          </a:p>
          <a:p>
            <a:pPr marL="347472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Results were unchanged when undetermined deaths were excluded from the definition of CV death or if the definition of CV death used in each trial was examined.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3736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each of the pre-specified outcomes there was no effect modification by ejection fraction found when examined as either a categorical or continuous variable (all interaction p-values &gt;0.5).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F444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Jhund PS, Kondo T, Butt JH, et al. Dapagliflozin across the range of ejection fraction in patients with heart failure: a patient-level pooled meta-analysis of DAPA-HF and DELIVER. 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 Med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2022;28(9):1956-1964. doi:10.1038/s41591-022-01971-4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177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5652"/>
          </a:xfrm>
        </p:spPr>
        <p:txBody>
          <a:bodyPr anchor="t"/>
          <a:lstStyle>
            <a:lvl1pPr>
              <a:lnSpc>
                <a:spcPct val="100000"/>
              </a:lnSpc>
              <a:defRPr sz="2400">
                <a:latin typeface="Arial Rounded MT Bold" panose="020F07040305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816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496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732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7538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74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43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44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64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917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245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075" y="115888"/>
            <a:ext cx="10972800" cy="446087"/>
          </a:xfrm>
        </p:spPr>
        <p:txBody>
          <a:bodyPr/>
          <a:lstStyle>
            <a:lvl1pPr>
              <a:defRPr sz="2800">
                <a:solidFill>
                  <a:srgbClr val="043E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115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26D0A-9EAD-4331-BD70-F9813C80F91F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7F57F7-C6D2-834B-787C-AFCA42B6F61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67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0A7663-FFC4-9FF9-8656-5B3783597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C6BFD04-8B83-BA6B-D2AD-09AF04A92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5200650"/>
            <a:ext cx="12192000" cy="16573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0D2FAFE-1F1E-F24F-1897-E9075A75EC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6009" y="509510"/>
            <a:ext cx="4424559" cy="46794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739526-54DD-8E6F-8219-E69F044D3F26}"/>
              </a:ext>
            </a:extLst>
          </p:cNvPr>
          <p:cNvSpPr txBox="1"/>
          <p:nvPr/>
        </p:nvSpPr>
        <p:spPr>
          <a:xfrm>
            <a:off x="836626" y="5429160"/>
            <a:ext cx="105187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solidFill>
                  <a:schemeClr val="bg1"/>
                </a:solidFill>
                <a:latin typeface="Arial Rounded MT Bold" panose="020F0704030504030204" pitchFamily="34" charset="0"/>
                <a:cs typeface="Calibri" panose="020F0502020204030204" pitchFamily="34" charset="0"/>
              </a:rPr>
              <a:t>Case Study On Topic XXXXX</a:t>
            </a:r>
          </a:p>
          <a:p>
            <a:pPr algn="ctr"/>
            <a:r>
              <a:rPr lang="en-IN" sz="3000" dirty="0">
                <a:solidFill>
                  <a:schemeClr val="bg1"/>
                </a:solidFill>
                <a:latin typeface="Arial Rounded MT Bold" panose="020F0704030504030204" pitchFamily="34" charset="0"/>
                <a:cs typeface="Calibri" panose="020F0502020204030204" pitchFamily="34" charset="0"/>
              </a:rPr>
              <a:t>By Dr XXXXX </a:t>
            </a:r>
          </a:p>
        </p:txBody>
      </p:sp>
    </p:spTree>
    <p:extLst>
      <p:ext uri="{BB962C8B-B14F-4D97-AF65-F5344CB8AC3E}">
        <p14:creationId xmlns:p14="http://schemas.microsoft.com/office/powerpoint/2010/main" val="2460826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A8F3366-BF15-EFA4-4F88-6B064A918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049"/>
            <a:ext cx="10972800" cy="555905"/>
          </a:xfrm>
        </p:spPr>
        <p:txBody>
          <a:bodyPr>
            <a:noAutofit/>
          </a:bodyPr>
          <a:lstStyle/>
          <a:p>
            <a:r>
              <a:rPr lang="en-GB" sz="2400" b="1" dirty="0">
                <a:solidFill>
                  <a:srgbClr val="050040"/>
                </a:solidFill>
                <a:effectLst/>
                <a:latin typeface="Arial Rounded MT Bold" panose="020F0704030504030204" pitchFamily="34" charset="0"/>
              </a:rPr>
              <a:t>XXXXXXXXXXXXX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3A561-DA37-7481-F7B9-08563F0E54D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93380" y="6187871"/>
            <a:ext cx="9753600" cy="195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600" dirty="0"/>
              <a:t>Swaroop</a:t>
            </a:r>
            <a:r>
              <a:rPr lang="en-GB" sz="600" i="1" dirty="0"/>
              <a:t> et al.</a:t>
            </a:r>
            <a:r>
              <a:rPr lang="en-GB" sz="600" dirty="0"/>
              <a:t> Post-myocardial Infarction Heart Failure: A Review on Management of Drug </a:t>
            </a:r>
            <a:r>
              <a:rPr lang="en-GB" sz="600" i="1" dirty="0" err="1"/>
              <a:t>TherapiesCureus</a:t>
            </a:r>
            <a:r>
              <a:rPr lang="en-GB" sz="600" i="1" dirty="0"/>
              <a:t>.</a:t>
            </a:r>
            <a:r>
              <a:rPr lang="en-GB" sz="600" dirty="0"/>
              <a:t> 2022 Jun 8;14(6):e25745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90D683-57C5-DD54-0999-9651CB15B2B4}"/>
              </a:ext>
            </a:extLst>
          </p:cNvPr>
          <p:cNvSpPr/>
          <p:nvPr/>
        </p:nvSpPr>
        <p:spPr>
          <a:xfrm>
            <a:off x="0" y="0"/>
            <a:ext cx="254524" cy="1010108"/>
          </a:xfrm>
          <a:prstGeom prst="rect">
            <a:avLst/>
          </a:prstGeom>
          <a:solidFill>
            <a:srgbClr val="050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263959-C266-1CE6-FD39-9E3C412BAA93}"/>
              </a:ext>
            </a:extLst>
          </p:cNvPr>
          <p:cNvSpPr/>
          <p:nvPr/>
        </p:nvSpPr>
        <p:spPr>
          <a:xfrm flipH="1">
            <a:off x="347661" y="-1"/>
            <a:ext cx="45719" cy="10101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B0F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285C31-0EC3-CB46-67B5-7F42F0924151}"/>
              </a:ext>
            </a:extLst>
          </p:cNvPr>
          <p:cNvSpPr/>
          <p:nvPr/>
        </p:nvSpPr>
        <p:spPr>
          <a:xfrm>
            <a:off x="3325187" y="1349767"/>
            <a:ext cx="5541625" cy="535531"/>
          </a:xfrm>
          <a:prstGeom prst="roundRect">
            <a:avLst/>
          </a:prstGeom>
          <a:solidFill>
            <a:srgbClr val="80B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8E94378-0FC1-2B9A-C229-03CFDC1897D4}"/>
              </a:ext>
            </a:extLst>
          </p:cNvPr>
          <p:cNvGrpSpPr/>
          <p:nvPr/>
        </p:nvGrpSpPr>
        <p:grpSpPr>
          <a:xfrm>
            <a:off x="1023446" y="2447058"/>
            <a:ext cx="10254145" cy="2317106"/>
            <a:chOff x="909044" y="2602251"/>
            <a:chExt cx="10254145" cy="2317106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51845FAC-4941-318E-B739-899FD2B35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09044" y="2602251"/>
              <a:ext cx="2259715" cy="2317106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F0C05D61-15A5-45C6-E93E-FA08A59DF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63727" y="2602251"/>
              <a:ext cx="2345798" cy="2259713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F4E5EADF-3066-80C6-0381-5ECBFDEB7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867606" y="2602251"/>
              <a:ext cx="2295583" cy="22597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4115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Down 3">
            <a:extLst>
              <a:ext uri="{FF2B5EF4-FFF2-40B4-BE49-F238E27FC236}">
                <a16:creationId xmlns:a16="http://schemas.microsoft.com/office/drawing/2014/main" id="{52B60328-473F-9F0A-9719-9A6955DD549C}"/>
              </a:ext>
            </a:extLst>
          </p:cNvPr>
          <p:cNvSpPr/>
          <p:nvPr/>
        </p:nvSpPr>
        <p:spPr>
          <a:xfrm>
            <a:off x="9472854" y="2380394"/>
            <a:ext cx="2349660" cy="2320189"/>
          </a:xfrm>
          <a:prstGeom prst="downArrow">
            <a:avLst>
              <a:gd name="adj1" fmla="val 55222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442D47A8-6294-B376-7419-96AACC6F303D}"/>
              </a:ext>
            </a:extLst>
          </p:cNvPr>
          <p:cNvSpPr/>
          <p:nvPr/>
        </p:nvSpPr>
        <p:spPr>
          <a:xfrm>
            <a:off x="7056156" y="2380394"/>
            <a:ext cx="2349660" cy="2320189"/>
          </a:xfrm>
          <a:prstGeom prst="downArrow">
            <a:avLst>
              <a:gd name="adj1" fmla="val 57654"/>
              <a:gd name="adj2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691E0E-50C2-9369-011E-913F2EF778F9}"/>
              </a:ext>
            </a:extLst>
          </p:cNvPr>
          <p:cNvSpPr/>
          <p:nvPr/>
        </p:nvSpPr>
        <p:spPr>
          <a:xfrm>
            <a:off x="347661" y="2527957"/>
            <a:ext cx="2291787" cy="1562582"/>
          </a:xfrm>
          <a:prstGeom prst="rect">
            <a:avLst/>
          </a:prstGeom>
          <a:solidFill>
            <a:srgbClr val="05004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3F150-6199-B380-767F-6301522AB0DF}"/>
              </a:ext>
            </a:extLst>
          </p:cNvPr>
          <p:cNvSpPr/>
          <p:nvPr/>
        </p:nvSpPr>
        <p:spPr>
          <a:xfrm>
            <a:off x="3603041" y="1337694"/>
            <a:ext cx="2955402" cy="1562582"/>
          </a:xfrm>
          <a:prstGeom prst="rect">
            <a:avLst/>
          </a:prstGeom>
          <a:solidFill>
            <a:srgbClr val="80BF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0DDD0-3359-2B0E-59EB-80221C2135B5}"/>
              </a:ext>
            </a:extLst>
          </p:cNvPr>
          <p:cNvSpPr/>
          <p:nvPr/>
        </p:nvSpPr>
        <p:spPr>
          <a:xfrm>
            <a:off x="3631979" y="4057222"/>
            <a:ext cx="2955402" cy="156258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CE25A9AD-6660-2DF9-8972-3DCF6D62A00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2639448" y="2118985"/>
            <a:ext cx="963593" cy="1190263"/>
          </a:xfrm>
          <a:prstGeom prst="bentConnector3">
            <a:avLst/>
          </a:prstGeom>
          <a:ln>
            <a:solidFill>
              <a:srgbClr val="043B5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13878ABD-355A-2DCA-A466-C5AEFD4CDE87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2639448" y="3309248"/>
            <a:ext cx="992531" cy="1529265"/>
          </a:xfrm>
          <a:prstGeom prst="bentConnector3">
            <a:avLst/>
          </a:prstGeom>
          <a:ln>
            <a:solidFill>
              <a:srgbClr val="043B5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E454C1-0FB6-083C-1030-AE751CA4CB93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558443" y="2118985"/>
            <a:ext cx="4282633" cy="0"/>
          </a:xfrm>
          <a:prstGeom prst="straightConnector1">
            <a:avLst/>
          </a:prstGeom>
          <a:ln>
            <a:solidFill>
              <a:srgbClr val="043B5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C83AF9-4520-0E77-9C95-7C74D98AE05E}"/>
              </a:ext>
            </a:extLst>
          </p:cNvPr>
          <p:cNvCxnSpPr>
            <a:cxnSpLocks/>
          </p:cNvCxnSpPr>
          <p:nvPr/>
        </p:nvCxnSpPr>
        <p:spPr>
          <a:xfrm>
            <a:off x="6205309" y="5428448"/>
            <a:ext cx="4253695" cy="0"/>
          </a:xfrm>
          <a:prstGeom prst="straightConnector1">
            <a:avLst/>
          </a:prstGeom>
          <a:ln>
            <a:solidFill>
              <a:srgbClr val="043B5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FC5E393-407C-EBEB-2657-AC1C8B0ED212}"/>
              </a:ext>
            </a:extLst>
          </p:cNvPr>
          <p:cNvSpPr txBox="1"/>
          <p:nvPr/>
        </p:nvSpPr>
        <p:spPr>
          <a:xfrm>
            <a:off x="393380" y="6218433"/>
            <a:ext cx="7500396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" dirty="0">
                <a:latin typeface="Arial" panose="020B0604020202020204" pitchFamily="34" charset="0"/>
                <a:cs typeface="Arial" panose="020B0604020202020204" pitchFamily="34" charset="0"/>
              </a:rPr>
              <a:t>Khairy Abdel </a:t>
            </a:r>
            <a:r>
              <a:rPr lang="en-IN" sz="600" dirty="0" err="1">
                <a:latin typeface="Arial" panose="020B0604020202020204" pitchFamily="34" charset="0"/>
                <a:cs typeface="Arial" panose="020B0604020202020204" pitchFamily="34" charset="0"/>
              </a:rPr>
              <a:t>Dayem</a:t>
            </a:r>
            <a:r>
              <a:rPr lang="en-IN" sz="600" dirty="0">
                <a:latin typeface="Arial" panose="020B0604020202020204" pitchFamily="34" charset="0"/>
                <a:cs typeface="Arial" panose="020B0604020202020204" pitchFamily="34" charset="0"/>
              </a:rPr>
              <a:t> et al, International Journal of Cardiology, Volume 379, 2023, Pages 9-14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C3B521-8F64-313C-88F0-B79D53B3F064}"/>
              </a:ext>
            </a:extLst>
          </p:cNvPr>
          <p:cNvSpPr/>
          <p:nvPr/>
        </p:nvSpPr>
        <p:spPr>
          <a:xfrm>
            <a:off x="0" y="0"/>
            <a:ext cx="254524" cy="1010108"/>
          </a:xfrm>
          <a:prstGeom prst="rect">
            <a:avLst/>
          </a:prstGeom>
          <a:solidFill>
            <a:srgbClr val="050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B48BD8-7AA9-D814-EEC5-2E2FD4FAD566}"/>
              </a:ext>
            </a:extLst>
          </p:cNvPr>
          <p:cNvSpPr/>
          <p:nvPr/>
        </p:nvSpPr>
        <p:spPr>
          <a:xfrm flipH="1">
            <a:off x="347661" y="-1"/>
            <a:ext cx="45719" cy="10101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B0F0"/>
              </a:solidFill>
            </a:endParaRPr>
          </a:p>
        </p:txBody>
      </p:sp>
      <p:sp>
        <p:nvSpPr>
          <p:cNvPr id="19" name="Title 4">
            <a:extLst>
              <a:ext uri="{FF2B5EF4-FFF2-40B4-BE49-F238E27FC236}">
                <a16:creationId xmlns:a16="http://schemas.microsoft.com/office/drawing/2014/main" id="{F8E1F947-F546-2E2E-7E97-80DB5E6A7510}"/>
              </a:ext>
            </a:extLst>
          </p:cNvPr>
          <p:cNvSpPr txBox="1">
            <a:spLocks/>
          </p:cNvSpPr>
          <p:nvPr/>
        </p:nvSpPr>
        <p:spPr>
          <a:xfrm>
            <a:off x="609600" y="416421"/>
            <a:ext cx="10598870" cy="5779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043E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+mj-ea"/>
                <a:cs typeface="Aharoni" panose="02010803020104030203" pitchFamily="2" charset="-79"/>
              </a:defRPr>
            </a:lvl1pPr>
          </a:lstStyle>
          <a:p>
            <a:r>
              <a:rPr lang="en-US" sz="2400" b="1" dirty="0">
                <a:solidFill>
                  <a:srgbClr val="050040"/>
                </a:solidFill>
                <a:effectLst/>
                <a:latin typeface="Arial Rounded MT Bold" panose="020F0704030504030204" pitchFamily="34" charset="0"/>
              </a:rPr>
              <a:t>In-</a:t>
            </a:r>
            <a:r>
              <a:rPr lang="en-US" sz="2400" b="1" dirty="0" err="1">
                <a:solidFill>
                  <a:srgbClr val="050040"/>
                </a:solidFill>
                <a:effectLst/>
                <a:latin typeface="Arial Rounded MT Bold" panose="020F0704030504030204" pitchFamily="34" charset="0"/>
              </a:rPr>
              <a:t>hXXXXXXXXXXXXXXXXXXXXXXXXX</a:t>
            </a:r>
            <a:endParaRPr lang="en-GB" sz="2400" b="1" dirty="0">
              <a:solidFill>
                <a:srgbClr val="050040"/>
              </a:solidFill>
              <a:effectLst/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963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6FA1AE7D-7B72-6613-C3FE-F15C948235B0}"/>
              </a:ext>
            </a:extLst>
          </p:cNvPr>
          <p:cNvSpPr txBox="1">
            <a:spLocks/>
          </p:cNvSpPr>
          <p:nvPr/>
        </p:nvSpPr>
        <p:spPr>
          <a:xfrm>
            <a:off x="609600" y="6200775"/>
            <a:ext cx="9528175" cy="65722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/>
            </a:lvl1pPr>
            <a:lvl2pPr marL="460800" marR="0" indent="-2286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dirty="0"/>
            </a:lvl2pPr>
            <a:lvl3pPr marL="6912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 smtClean="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CCA29FA-95A1-E50A-78F5-770D0884CD46}"/>
              </a:ext>
            </a:extLst>
          </p:cNvPr>
          <p:cNvSpPr txBox="1">
            <a:spLocks/>
          </p:cNvSpPr>
          <p:nvPr/>
        </p:nvSpPr>
        <p:spPr>
          <a:xfrm>
            <a:off x="189836" y="200712"/>
            <a:ext cx="11702744" cy="7823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 b="1">
                <a:solidFill>
                  <a:schemeClr val="accent1"/>
                </a:solidFill>
              </a:defRPr>
            </a:lvl1pPr>
            <a:lvl2pPr marL="232200" marR="0" indent="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None/>
              <a:tabLst/>
              <a:defRPr sz="2400"/>
            </a:lvl2pPr>
            <a:lvl3pPr marL="46260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None/>
              <a:defRPr sz="2000"/>
            </a:lvl3pPr>
            <a:lvl4pPr marL="69300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None/>
              <a:defRPr sz="2000"/>
            </a:lvl4pPr>
            <a:lvl5pPr marL="92340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None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F575DC-E760-4B70-315F-2370944518A4}"/>
              </a:ext>
            </a:extLst>
          </p:cNvPr>
          <p:cNvCxnSpPr>
            <a:cxnSpLocks/>
          </p:cNvCxnSpPr>
          <p:nvPr/>
        </p:nvCxnSpPr>
        <p:spPr>
          <a:xfrm>
            <a:off x="4771738" y="2196338"/>
            <a:ext cx="0" cy="3251880"/>
          </a:xfrm>
          <a:prstGeom prst="line">
            <a:avLst/>
          </a:prstGeom>
          <a:ln w="3175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13">
            <a:extLst>
              <a:ext uri="{FF2B5EF4-FFF2-40B4-BE49-F238E27FC236}">
                <a16:creationId xmlns:a16="http://schemas.microsoft.com/office/drawing/2014/main" id="{02196B54-FAB6-F850-FA42-BE0ED0E969C3}"/>
              </a:ext>
            </a:extLst>
          </p:cNvPr>
          <p:cNvSpPr>
            <a:spLocks/>
          </p:cNvSpPr>
          <p:nvPr/>
        </p:nvSpPr>
        <p:spPr bwMode="auto">
          <a:xfrm>
            <a:off x="5240229" y="2896447"/>
            <a:ext cx="1668188" cy="2135125"/>
          </a:xfrm>
          <a:custGeom>
            <a:avLst/>
            <a:gdLst>
              <a:gd name="T0" fmla="*/ 826 w 939"/>
              <a:gd name="T1" fmla="*/ 0 h 1097"/>
              <a:gd name="T2" fmla="*/ 0 w 939"/>
              <a:gd name="T3" fmla="*/ 0 h 1097"/>
              <a:gd name="T4" fmla="*/ 0 w 939"/>
              <a:gd name="T5" fmla="*/ 748 h 1097"/>
              <a:gd name="T6" fmla="*/ 0 w 939"/>
              <a:gd name="T7" fmla="*/ 760 h 1097"/>
              <a:gd name="T8" fmla="*/ 2 w 939"/>
              <a:gd name="T9" fmla="*/ 772 h 1097"/>
              <a:gd name="T10" fmla="*/ 4 w 939"/>
              <a:gd name="T11" fmla="*/ 784 h 1097"/>
              <a:gd name="T12" fmla="*/ 8 w 939"/>
              <a:gd name="T13" fmla="*/ 795 h 1097"/>
              <a:gd name="T14" fmla="*/ 12 w 939"/>
              <a:gd name="T15" fmla="*/ 807 h 1097"/>
              <a:gd name="T16" fmla="*/ 17 w 939"/>
              <a:gd name="T17" fmla="*/ 817 h 1097"/>
              <a:gd name="T18" fmla="*/ 23 w 939"/>
              <a:gd name="T19" fmla="*/ 828 h 1097"/>
              <a:gd name="T20" fmla="*/ 30 w 939"/>
              <a:gd name="T21" fmla="*/ 837 h 1097"/>
              <a:gd name="T22" fmla="*/ 38 w 939"/>
              <a:gd name="T23" fmla="*/ 847 h 1097"/>
              <a:gd name="T24" fmla="*/ 46 w 939"/>
              <a:gd name="T25" fmla="*/ 855 h 1097"/>
              <a:gd name="T26" fmla="*/ 55 w 939"/>
              <a:gd name="T27" fmla="*/ 863 h 1097"/>
              <a:gd name="T28" fmla="*/ 65 w 939"/>
              <a:gd name="T29" fmla="*/ 870 h 1097"/>
              <a:gd name="T30" fmla="*/ 76 w 939"/>
              <a:gd name="T31" fmla="*/ 877 h 1097"/>
              <a:gd name="T32" fmla="*/ 469 w 939"/>
              <a:gd name="T33" fmla="*/ 1097 h 1097"/>
              <a:gd name="T34" fmla="*/ 939 w 939"/>
              <a:gd name="T35" fmla="*/ 834 h 1097"/>
              <a:gd name="T36" fmla="*/ 939 w 939"/>
              <a:gd name="T37" fmla="*/ 114 h 1097"/>
              <a:gd name="T38" fmla="*/ 938 w 939"/>
              <a:gd name="T39" fmla="*/ 101 h 1097"/>
              <a:gd name="T40" fmla="*/ 936 w 939"/>
              <a:gd name="T41" fmla="*/ 90 h 1097"/>
              <a:gd name="T42" fmla="*/ 933 w 939"/>
              <a:gd name="T43" fmla="*/ 78 h 1097"/>
              <a:gd name="T44" fmla="*/ 929 w 939"/>
              <a:gd name="T45" fmla="*/ 67 h 1097"/>
              <a:gd name="T46" fmla="*/ 923 w 939"/>
              <a:gd name="T47" fmla="*/ 57 h 1097"/>
              <a:gd name="T48" fmla="*/ 917 w 939"/>
              <a:gd name="T49" fmla="*/ 47 h 1097"/>
              <a:gd name="T50" fmla="*/ 910 w 939"/>
              <a:gd name="T51" fmla="*/ 38 h 1097"/>
              <a:gd name="T52" fmla="*/ 902 w 939"/>
              <a:gd name="T53" fmla="*/ 30 h 1097"/>
              <a:gd name="T54" fmla="*/ 893 w 939"/>
              <a:gd name="T55" fmla="*/ 22 h 1097"/>
              <a:gd name="T56" fmla="*/ 883 w 939"/>
              <a:gd name="T57" fmla="*/ 16 h 1097"/>
              <a:gd name="T58" fmla="*/ 872 w 939"/>
              <a:gd name="T59" fmla="*/ 11 h 1097"/>
              <a:gd name="T60" fmla="*/ 861 w 939"/>
              <a:gd name="T61" fmla="*/ 6 h 1097"/>
              <a:gd name="T62" fmla="*/ 850 w 939"/>
              <a:gd name="T63" fmla="*/ 3 h 1097"/>
              <a:gd name="T64" fmla="*/ 838 w 939"/>
              <a:gd name="T65" fmla="*/ 1 h 1097"/>
              <a:gd name="T66" fmla="*/ 826 w 939"/>
              <a:gd name="T67" fmla="*/ 0 h 1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9" h="1097">
                <a:moveTo>
                  <a:pt x="826" y="0"/>
                </a:moveTo>
                <a:lnTo>
                  <a:pt x="0" y="0"/>
                </a:lnTo>
                <a:lnTo>
                  <a:pt x="0" y="748"/>
                </a:lnTo>
                <a:lnTo>
                  <a:pt x="0" y="760"/>
                </a:lnTo>
                <a:lnTo>
                  <a:pt x="2" y="772"/>
                </a:lnTo>
                <a:lnTo>
                  <a:pt x="4" y="784"/>
                </a:lnTo>
                <a:lnTo>
                  <a:pt x="8" y="795"/>
                </a:lnTo>
                <a:lnTo>
                  <a:pt x="12" y="807"/>
                </a:lnTo>
                <a:lnTo>
                  <a:pt x="17" y="817"/>
                </a:lnTo>
                <a:lnTo>
                  <a:pt x="23" y="828"/>
                </a:lnTo>
                <a:lnTo>
                  <a:pt x="30" y="837"/>
                </a:lnTo>
                <a:lnTo>
                  <a:pt x="38" y="847"/>
                </a:lnTo>
                <a:lnTo>
                  <a:pt x="46" y="855"/>
                </a:lnTo>
                <a:lnTo>
                  <a:pt x="55" y="863"/>
                </a:lnTo>
                <a:lnTo>
                  <a:pt x="65" y="870"/>
                </a:lnTo>
                <a:lnTo>
                  <a:pt x="76" y="877"/>
                </a:lnTo>
                <a:lnTo>
                  <a:pt x="469" y="1097"/>
                </a:lnTo>
                <a:lnTo>
                  <a:pt x="939" y="834"/>
                </a:lnTo>
                <a:lnTo>
                  <a:pt x="939" y="114"/>
                </a:lnTo>
                <a:lnTo>
                  <a:pt x="938" y="101"/>
                </a:lnTo>
                <a:lnTo>
                  <a:pt x="936" y="90"/>
                </a:lnTo>
                <a:lnTo>
                  <a:pt x="933" y="78"/>
                </a:lnTo>
                <a:lnTo>
                  <a:pt x="929" y="67"/>
                </a:lnTo>
                <a:lnTo>
                  <a:pt x="923" y="57"/>
                </a:lnTo>
                <a:lnTo>
                  <a:pt x="917" y="47"/>
                </a:lnTo>
                <a:lnTo>
                  <a:pt x="910" y="38"/>
                </a:lnTo>
                <a:lnTo>
                  <a:pt x="902" y="30"/>
                </a:lnTo>
                <a:lnTo>
                  <a:pt x="893" y="22"/>
                </a:lnTo>
                <a:lnTo>
                  <a:pt x="883" y="16"/>
                </a:lnTo>
                <a:lnTo>
                  <a:pt x="872" y="11"/>
                </a:lnTo>
                <a:lnTo>
                  <a:pt x="861" y="6"/>
                </a:lnTo>
                <a:lnTo>
                  <a:pt x="850" y="3"/>
                </a:lnTo>
                <a:lnTo>
                  <a:pt x="838" y="1"/>
                </a:lnTo>
                <a:lnTo>
                  <a:pt x="826" y="0"/>
                </a:lnTo>
                <a:close/>
              </a:path>
            </a:pathLst>
          </a:custGeom>
          <a:solidFill>
            <a:srgbClr val="05004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/>
            <a:endParaRPr lang="en-US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E097324-CCEF-A600-C8A8-E4C8AF0620BF}"/>
              </a:ext>
            </a:extLst>
          </p:cNvPr>
          <p:cNvGrpSpPr/>
          <p:nvPr/>
        </p:nvGrpSpPr>
        <p:grpSpPr>
          <a:xfrm>
            <a:off x="7202710" y="2896447"/>
            <a:ext cx="1709790" cy="2194560"/>
            <a:chOff x="2677329" y="3371645"/>
            <a:chExt cx="1709790" cy="2194560"/>
          </a:xfrm>
          <a:solidFill>
            <a:srgbClr val="05004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Freeform 112">
              <a:extLst>
                <a:ext uri="{FF2B5EF4-FFF2-40B4-BE49-F238E27FC236}">
                  <a16:creationId xmlns:a16="http://schemas.microsoft.com/office/drawing/2014/main" id="{AC563285-3076-C5A4-5E9B-FB0F47302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184" y="3440680"/>
              <a:ext cx="1612935" cy="2125525"/>
            </a:xfrm>
            <a:custGeom>
              <a:avLst/>
              <a:gdLst>
                <a:gd name="T0" fmla="*/ 825 w 912"/>
                <a:gd name="T1" fmla="*/ 0 h 1070"/>
                <a:gd name="T2" fmla="*/ 0 w 912"/>
                <a:gd name="T3" fmla="*/ 0 h 1070"/>
                <a:gd name="T4" fmla="*/ 0 w 912"/>
                <a:gd name="T5" fmla="*/ 747 h 1070"/>
                <a:gd name="T6" fmla="*/ 0 w 912"/>
                <a:gd name="T7" fmla="*/ 760 h 1070"/>
                <a:gd name="T8" fmla="*/ 2 w 912"/>
                <a:gd name="T9" fmla="*/ 772 h 1070"/>
                <a:gd name="T10" fmla="*/ 4 w 912"/>
                <a:gd name="T11" fmla="*/ 784 h 1070"/>
                <a:gd name="T12" fmla="*/ 8 w 912"/>
                <a:gd name="T13" fmla="*/ 795 h 1070"/>
                <a:gd name="T14" fmla="*/ 12 w 912"/>
                <a:gd name="T15" fmla="*/ 806 h 1070"/>
                <a:gd name="T16" fmla="*/ 17 w 912"/>
                <a:gd name="T17" fmla="*/ 817 h 1070"/>
                <a:gd name="T18" fmla="*/ 23 w 912"/>
                <a:gd name="T19" fmla="*/ 827 h 1070"/>
                <a:gd name="T20" fmla="*/ 30 w 912"/>
                <a:gd name="T21" fmla="*/ 837 h 1070"/>
                <a:gd name="T22" fmla="*/ 38 w 912"/>
                <a:gd name="T23" fmla="*/ 846 h 1070"/>
                <a:gd name="T24" fmla="*/ 46 w 912"/>
                <a:gd name="T25" fmla="*/ 855 h 1070"/>
                <a:gd name="T26" fmla="*/ 55 w 912"/>
                <a:gd name="T27" fmla="*/ 863 h 1070"/>
                <a:gd name="T28" fmla="*/ 65 w 912"/>
                <a:gd name="T29" fmla="*/ 870 h 1070"/>
                <a:gd name="T30" fmla="*/ 75 w 912"/>
                <a:gd name="T31" fmla="*/ 877 h 1070"/>
                <a:gd name="T32" fmla="*/ 414 w 912"/>
                <a:gd name="T33" fmla="*/ 1070 h 1070"/>
                <a:gd name="T34" fmla="*/ 912 w 912"/>
                <a:gd name="T35" fmla="*/ 787 h 1070"/>
                <a:gd name="T36" fmla="*/ 912 w 912"/>
                <a:gd name="T37" fmla="*/ 114 h 1070"/>
                <a:gd name="T38" fmla="*/ 911 w 912"/>
                <a:gd name="T39" fmla="*/ 100 h 1070"/>
                <a:gd name="T40" fmla="*/ 910 w 912"/>
                <a:gd name="T41" fmla="*/ 88 h 1070"/>
                <a:gd name="T42" fmla="*/ 908 w 912"/>
                <a:gd name="T43" fmla="*/ 75 h 1070"/>
                <a:gd name="T44" fmla="*/ 906 w 912"/>
                <a:gd name="T45" fmla="*/ 64 h 1070"/>
                <a:gd name="T46" fmla="*/ 902 w 912"/>
                <a:gd name="T47" fmla="*/ 53 h 1070"/>
                <a:gd name="T48" fmla="*/ 897 w 912"/>
                <a:gd name="T49" fmla="*/ 43 h 1070"/>
                <a:gd name="T50" fmla="*/ 892 w 912"/>
                <a:gd name="T51" fmla="*/ 34 h 1070"/>
                <a:gd name="T52" fmla="*/ 886 w 912"/>
                <a:gd name="T53" fmla="*/ 25 h 1070"/>
                <a:gd name="T54" fmla="*/ 878 w 912"/>
                <a:gd name="T55" fmla="*/ 18 h 1070"/>
                <a:gd name="T56" fmla="*/ 870 w 912"/>
                <a:gd name="T57" fmla="*/ 12 h 1070"/>
                <a:gd name="T58" fmla="*/ 860 w 912"/>
                <a:gd name="T59" fmla="*/ 7 h 1070"/>
                <a:gd name="T60" fmla="*/ 850 w 912"/>
                <a:gd name="T61" fmla="*/ 3 h 1070"/>
                <a:gd name="T62" fmla="*/ 838 w 912"/>
                <a:gd name="T63" fmla="*/ 1 h 1070"/>
                <a:gd name="T64" fmla="*/ 825 w 912"/>
                <a:gd name="T65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12" h="1070">
                  <a:moveTo>
                    <a:pt x="825" y="0"/>
                  </a:moveTo>
                  <a:lnTo>
                    <a:pt x="0" y="0"/>
                  </a:lnTo>
                  <a:lnTo>
                    <a:pt x="0" y="747"/>
                  </a:lnTo>
                  <a:lnTo>
                    <a:pt x="0" y="760"/>
                  </a:lnTo>
                  <a:lnTo>
                    <a:pt x="2" y="772"/>
                  </a:lnTo>
                  <a:lnTo>
                    <a:pt x="4" y="784"/>
                  </a:lnTo>
                  <a:lnTo>
                    <a:pt x="8" y="795"/>
                  </a:lnTo>
                  <a:lnTo>
                    <a:pt x="12" y="806"/>
                  </a:lnTo>
                  <a:lnTo>
                    <a:pt x="17" y="817"/>
                  </a:lnTo>
                  <a:lnTo>
                    <a:pt x="23" y="827"/>
                  </a:lnTo>
                  <a:lnTo>
                    <a:pt x="30" y="837"/>
                  </a:lnTo>
                  <a:lnTo>
                    <a:pt x="38" y="846"/>
                  </a:lnTo>
                  <a:lnTo>
                    <a:pt x="46" y="855"/>
                  </a:lnTo>
                  <a:lnTo>
                    <a:pt x="55" y="863"/>
                  </a:lnTo>
                  <a:lnTo>
                    <a:pt x="65" y="870"/>
                  </a:lnTo>
                  <a:lnTo>
                    <a:pt x="75" y="877"/>
                  </a:lnTo>
                  <a:lnTo>
                    <a:pt x="414" y="1070"/>
                  </a:lnTo>
                  <a:lnTo>
                    <a:pt x="912" y="787"/>
                  </a:lnTo>
                  <a:lnTo>
                    <a:pt x="912" y="114"/>
                  </a:lnTo>
                  <a:lnTo>
                    <a:pt x="911" y="100"/>
                  </a:lnTo>
                  <a:lnTo>
                    <a:pt x="910" y="88"/>
                  </a:lnTo>
                  <a:lnTo>
                    <a:pt x="908" y="75"/>
                  </a:lnTo>
                  <a:lnTo>
                    <a:pt x="906" y="64"/>
                  </a:lnTo>
                  <a:lnTo>
                    <a:pt x="902" y="53"/>
                  </a:lnTo>
                  <a:lnTo>
                    <a:pt x="897" y="43"/>
                  </a:lnTo>
                  <a:lnTo>
                    <a:pt x="892" y="34"/>
                  </a:lnTo>
                  <a:lnTo>
                    <a:pt x="886" y="25"/>
                  </a:lnTo>
                  <a:lnTo>
                    <a:pt x="878" y="18"/>
                  </a:lnTo>
                  <a:lnTo>
                    <a:pt x="870" y="12"/>
                  </a:lnTo>
                  <a:lnTo>
                    <a:pt x="860" y="7"/>
                  </a:lnTo>
                  <a:lnTo>
                    <a:pt x="850" y="3"/>
                  </a:lnTo>
                  <a:lnTo>
                    <a:pt x="838" y="1"/>
                  </a:lnTo>
                  <a:lnTo>
                    <a:pt x="8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en-US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 113">
              <a:extLst>
                <a:ext uri="{FF2B5EF4-FFF2-40B4-BE49-F238E27FC236}">
                  <a16:creationId xmlns:a16="http://schemas.microsoft.com/office/drawing/2014/main" id="{613436B2-16E3-537C-E2A8-EA73E5EB3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329" y="3371645"/>
              <a:ext cx="1668188" cy="2135125"/>
            </a:xfrm>
            <a:custGeom>
              <a:avLst/>
              <a:gdLst>
                <a:gd name="T0" fmla="*/ 826 w 939"/>
                <a:gd name="T1" fmla="*/ 0 h 1097"/>
                <a:gd name="T2" fmla="*/ 0 w 939"/>
                <a:gd name="T3" fmla="*/ 0 h 1097"/>
                <a:gd name="T4" fmla="*/ 0 w 939"/>
                <a:gd name="T5" fmla="*/ 748 h 1097"/>
                <a:gd name="T6" fmla="*/ 0 w 939"/>
                <a:gd name="T7" fmla="*/ 760 h 1097"/>
                <a:gd name="T8" fmla="*/ 2 w 939"/>
                <a:gd name="T9" fmla="*/ 772 h 1097"/>
                <a:gd name="T10" fmla="*/ 4 w 939"/>
                <a:gd name="T11" fmla="*/ 784 h 1097"/>
                <a:gd name="T12" fmla="*/ 8 w 939"/>
                <a:gd name="T13" fmla="*/ 795 h 1097"/>
                <a:gd name="T14" fmla="*/ 12 w 939"/>
                <a:gd name="T15" fmla="*/ 807 h 1097"/>
                <a:gd name="T16" fmla="*/ 17 w 939"/>
                <a:gd name="T17" fmla="*/ 817 h 1097"/>
                <a:gd name="T18" fmla="*/ 23 w 939"/>
                <a:gd name="T19" fmla="*/ 828 h 1097"/>
                <a:gd name="T20" fmla="*/ 30 w 939"/>
                <a:gd name="T21" fmla="*/ 837 h 1097"/>
                <a:gd name="T22" fmla="*/ 38 w 939"/>
                <a:gd name="T23" fmla="*/ 847 h 1097"/>
                <a:gd name="T24" fmla="*/ 46 w 939"/>
                <a:gd name="T25" fmla="*/ 855 h 1097"/>
                <a:gd name="T26" fmla="*/ 55 w 939"/>
                <a:gd name="T27" fmla="*/ 863 h 1097"/>
                <a:gd name="T28" fmla="*/ 65 w 939"/>
                <a:gd name="T29" fmla="*/ 870 h 1097"/>
                <a:gd name="T30" fmla="*/ 76 w 939"/>
                <a:gd name="T31" fmla="*/ 877 h 1097"/>
                <a:gd name="T32" fmla="*/ 469 w 939"/>
                <a:gd name="T33" fmla="*/ 1097 h 1097"/>
                <a:gd name="T34" fmla="*/ 939 w 939"/>
                <a:gd name="T35" fmla="*/ 834 h 1097"/>
                <a:gd name="T36" fmla="*/ 939 w 939"/>
                <a:gd name="T37" fmla="*/ 114 h 1097"/>
                <a:gd name="T38" fmla="*/ 938 w 939"/>
                <a:gd name="T39" fmla="*/ 101 h 1097"/>
                <a:gd name="T40" fmla="*/ 936 w 939"/>
                <a:gd name="T41" fmla="*/ 90 h 1097"/>
                <a:gd name="T42" fmla="*/ 933 w 939"/>
                <a:gd name="T43" fmla="*/ 78 h 1097"/>
                <a:gd name="T44" fmla="*/ 929 w 939"/>
                <a:gd name="T45" fmla="*/ 67 h 1097"/>
                <a:gd name="T46" fmla="*/ 923 w 939"/>
                <a:gd name="T47" fmla="*/ 57 h 1097"/>
                <a:gd name="T48" fmla="*/ 917 w 939"/>
                <a:gd name="T49" fmla="*/ 47 h 1097"/>
                <a:gd name="T50" fmla="*/ 910 w 939"/>
                <a:gd name="T51" fmla="*/ 38 h 1097"/>
                <a:gd name="T52" fmla="*/ 902 w 939"/>
                <a:gd name="T53" fmla="*/ 30 h 1097"/>
                <a:gd name="T54" fmla="*/ 893 w 939"/>
                <a:gd name="T55" fmla="*/ 22 h 1097"/>
                <a:gd name="T56" fmla="*/ 883 w 939"/>
                <a:gd name="T57" fmla="*/ 16 h 1097"/>
                <a:gd name="T58" fmla="*/ 872 w 939"/>
                <a:gd name="T59" fmla="*/ 11 h 1097"/>
                <a:gd name="T60" fmla="*/ 861 w 939"/>
                <a:gd name="T61" fmla="*/ 6 h 1097"/>
                <a:gd name="T62" fmla="*/ 850 w 939"/>
                <a:gd name="T63" fmla="*/ 3 h 1097"/>
                <a:gd name="T64" fmla="*/ 838 w 939"/>
                <a:gd name="T65" fmla="*/ 1 h 1097"/>
                <a:gd name="T66" fmla="*/ 826 w 939"/>
                <a:gd name="T67" fmla="*/ 0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39" h="1097">
                  <a:moveTo>
                    <a:pt x="826" y="0"/>
                  </a:moveTo>
                  <a:lnTo>
                    <a:pt x="0" y="0"/>
                  </a:lnTo>
                  <a:lnTo>
                    <a:pt x="0" y="748"/>
                  </a:lnTo>
                  <a:lnTo>
                    <a:pt x="0" y="760"/>
                  </a:lnTo>
                  <a:lnTo>
                    <a:pt x="2" y="772"/>
                  </a:lnTo>
                  <a:lnTo>
                    <a:pt x="4" y="784"/>
                  </a:lnTo>
                  <a:lnTo>
                    <a:pt x="8" y="795"/>
                  </a:lnTo>
                  <a:lnTo>
                    <a:pt x="12" y="807"/>
                  </a:lnTo>
                  <a:lnTo>
                    <a:pt x="17" y="817"/>
                  </a:lnTo>
                  <a:lnTo>
                    <a:pt x="23" y="828"/>
                  </a:lnTo>
                  <a:lnTo>
                    <a:pt x="30" y="837"/>
                  </a:lnTo>
                  <a:lnTo>
                    <a:pt x="38" y="847"/>
                  </a:lnTo>
                  <a:lnTo>
                    <a:pt x="46" y="855"/>
                  </a:lnTo>
                  <a:lnTo>
                    <a:pt x="55" y="863"/>
                  </a:lnTo>
                  <a:lnTo>
                    <a:pt x="65" y="870"/>
                  </a:lnTo>
                  <a:lnTo>
                    <a:pt x="76" y="877"/>
                  </a:lnTo>
                  <a:lnTo>
                    <a:pt x="469" y="1097"/>
                  </a:lnTo>
                  <a:lnTo>
                    <a:pt x="939" y="834"/>
                  </a:lnTo>
                  <a:lnTo>
                    <a:pt x="939" y="114"/>
                  </a:lnTo>
                  <a:lnTo>
                    <a:pt x="938" y="101"/>
                  </a:lnTo>
                  <a:lnTo>
                    <a:pt x="936" y="90"/>
                  </a:lnTo>
                  <a:lnTo>
                    <a:pt x="933" y="78"/>
                  </a:lnTo>
                  <a:lnTo>
                    <a:pt x="929" y="67"/>
                  </a:lnTo>
                  <a:lnTo>
                    <a:pt x="923" y="57"/>
                  </a:lnTo>
                  <a:lnTo>
                    <a:pt x="917" y="47"/>
                  </a:lnTo>
                  <a:lnTo>
                    <a:pt x="910" y="38"/>
                  </a:lnTo>
                  <a:lnTo>
                    <a:pt x="902" y="30"/>
                  </a:lnTo>
                  <a:lnTo>
                    <a:pt x="893" y="22"/>
                  </a:lnTo>
                  <a:lnTo>
                    <a:pt x="883" y="16"/>
                  </a:lnTo>
                  <a:lnTo>
                    <a:pt x="872" y="11"/>
                  </a:lnTo>
                  <a:lnTo>
                    <a:pt x="861" y="6"/>
                  </a:lnTo>
                  <a:lnTo>
                    <a:pt x="850" y="3"/>
                  </a:lnTo>
                  <a:lnTo>
                    <a:pt x="838" y="1"/>
                  </a:lnTo>
                  <a:lnTo>
                    <a:pt x="8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en-US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32">
              <a:extLst>
                <a:ext uri="{FF2B5EF4-FFF2-40B4-BE49-F238E27FC236}">
                  <a16:creationId xmlns:a16="http://schemas.microsoft.com/office/drawing/2014/main" id="{3C0E9613-0883-E99B-4901-8229DD13B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2833" y="3635915"/>
              <a:ext cx="423942" cy="32844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14BCFC5-DBC7-15D1-242B-242580B7BBEB}"/>
                </a:ext>
              </a:extLst>
            </p:cNvPr>
            <p:cNvCxnSpPr>
              <a:cxnSpLocks/>
            </p:cNvCxnSpPr>
            <p:nvPr/>
          </p:nvCxnSpPr>
          <p:spPr>
            <a:xfrm>
              <a:off x="2786544" y="4379685"/>
              <a:ext cx="143574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Freeform 113">
            <a:extLst>
              <a:ext uri="{FF2B5EF4-FFF2-40B4-BE49-F238E27FC236}">
                <a16:creationId xmlns:a16="http://schemas.microsoft.com/office/drawing/2014/main" id="{E544399B-F548-4424-9F86-D43AB73CE190}"/>
              </a:ext>
            </a:extLst>
          </p:cNvPr>
          <p:cNvSpPr>
            <a:spLocks/>
          </p:cNvSpPr>
          <p:nvPr/>
        </p:nvSpPr>
        <p:spPr bwMode="auto">
          <a:xfrm>
            <a:off x="667125" y="2896447"/>
            <a:ext cx="1668188" cy="2135125"/>
          </a:xfrm>
          <a:custGeom>
            <a:avLst/>
            <a:gdLst>
              <a:gd name="T0" fmla="*/ 826 w 939"/>
              <a:gd name="T1" fmla="*/ 0 h 1097"/>
              <a:gd name="T2" fmla="*/ 0 w 939"/>
              <a:gd name="T3" fmla="*/ 0 h 1097"/>
              <a:gd name="T4" fmla="*/ 0 w 939"/>
              <a:gd name="T5" fmla="*/ 748 h 1097"/>
              <a:gd name="T6" fmla="*/ 0 w 939"/>
              <a:gd name="T7" fmla="*/ 760 h 1097"/>
              <a:gd name="T8" fmla="*/ 2 w 939"/>
              <a:gd name="T9" fmla="*/ 772 h 1097"/>
              <a:gd name="T10" fmla="*/ 4 w 939"/>
              <a:gd name="T11" fmla="*/ 784 h 1097"/>
              <a:gd name="T12" fmla="*/ 8 w 939"/>
              <a:gd name="T13" fmla="*/ 795 h 1097"/>
              <a:gd name="T14" fmla="*/ 12 w 939"/>
              <a:gd name="T15" fmla="*/ 807 h 1097"/>
              <a:gd name="T16" fmla="*/ 17 w 939"/>
              <a:gd name="T17" fmla="*/ 817 h 1097"/>
              <a:gd name="T18" fmla="*/ 23 w 939"/>
              <a:gd name="T19" fmla="*/ 828 h 1097"/>
              <a:gd name="T20" fmla="*/ 30 w 939"/>
              <a:gd name="T21" fmla="*/ 837 h 1097"/>
              <a:gd name="T22" fmla="*/ 38 w 939"/>
              <a:gd name="T23" fmla="*/ 847 h 1097"/>
              <a:gd name="T24" fmla="*/ 46 w 939"/>
              <a:gd name="T25" fmla="*/ 855 h 1097"/>
              <a:gd name="T26" fmla="*/ 55 w 939"/>
              <a:gd name="T27" fmla="*/ 863 h 1097"/>
              <a:gd name="T28" fmla="*/ 65 w 939"/>
              <a:gd name="T29" fmla="*/ 870 h 1097"/>
              <a:gd name="T30" fmla="*/ 76 w 939"/>
              <a:gd name="T31" fmla="*/ 877 h 1097"/>
              <a:gd name="T32" fmla="*/ 469 w 939"/>
              <a:gd name="T33" fmla="*/ 1097 h 1097"/>
              <a:gd name="T34" fmla="*/ 939 w 939"/>
              <a:gd name="T35" fmla="*/ 834 h 1097"/>
              <a:gd name="T36" fmla="*/ 939 w 939"/>
              <a:gd name="T37" fmla="*/ 114 h 1097"/>
              <a:gd name="T38" fmla="*/ 938 w 939"/>
              <a:gd name="T39" fmla="*/ 101 h 1097"/>
              <a:gd name="T40" fmla="*/ 936 w 939"/>
              <a:gd name="T41" fmla="*/ 90 h 1097"/>
              <a:gd name="T42" fmla="*/ 933 w 939"/>
              <a:gd name="T43" fmla="*/ 78 h 1097"/>
              <a:gd name="T44" fmla="*/ 929 w 939"/>
              <a:gd name="T45" fmla="*/ 67 h 1097"/>
              <a:gd name="T46" fmla="*/ 923 w 939"/>
              <a:gd name="T47" fmla="*/ 57 h 1097"/>
              <a:gd name="T48" fmla="*/ 917 w 939"/>
              <a:gd name="T49" fmla="*/ 47 h 1097"/>
              <a:gd name="T50" fmla="*/ 910 w 939"/>
              <a:gd name="T51" fmla="*/ 38 h 1097"/>
              <a:gd name="T52" fmla="*/ 902 w 939"/>
              <a:gd name="T53" fmla="*/ 30 h 1097"/>
              <a:gd name="T54" fmla="*/ 893 w 939"/>
              <a:gd name="T55" fmla="*/ 22 h 1097"/>
              <a:gd name="T56" fmla="*/ 883 w 939"/>
              <a:gd name="T57" fmla="*/ 16 h 1097"/>
              <a:gd name="T58" fmla="*/ 872 w 939"/>
              <a:gd name="T59" fmla="*/ 11 h 1097"/>
              <a:gd name="T60" fmla="*/ 861 w 939"/>
              <a:gd name="T61" fmla="*/ 6 h 1097"/>
              <a:gd name="T62" fmla="*/ 850 w 939"/>
              <a:gd name="T63" fmla="*/ 3 h 1097"/>
              <a:gd name="T64" fmla="*/ 838 w 939"/>
              <a:gd name="T65" fmla="*/ 1 h 1097"/>
              <a:gd name="T66" fmla="*/ 826 w 939"/>
              <a:gd name="T67" fmla="*/ 0 h 1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9" h="1097">
                <a:moveTo>
                  <a:pt x="826" y="0"/>
                </a:moveTo>
                <a:lnTo>
                  <a:pt x="0" y="0"/>
                </a:lnTo>
                <a:lnTo>
                  <a:pt x="0" y="748"/>
                </a:lnTo>
                <a:lnTo>
                  <a:pt x="0" y="760"/>
                </a:lnTo>
                <a:lnTo>
                  <a:pt x="2" y="772"/>
                </a:lnTo>
                <a:lnTo>
                  <a:pt x="4" y="784"/>
                </a:lnTo>
                <a:lnTo>
                  <a:pt x="8" y="795"/>
                </a:lnTo>
                <a:lnTo>
                  <a:pt x="12" y="807"/>
                </a:lnTo>
                <a:lnTo>
                  <a:pt x="17" y="817"/>
                </a:lnTo>
                <a:lnTo>
                  <a:pt x="23" y="828"/>
                </a:lnTo>
                <a:lnTo>
                  <a:pt x="30" y="837"/>
                </a:lnTo>
                <a:lnTo>
                  <a:pt x="38" y="847"/>
                </a:lnTo>
                <a:lnTo>
                  <a:pt x="46" y="855"/>
                </a:lnTo>
                <a:lnTo>
                  <a:pt x="55" y="863"/>
                </a:lnTo>
                <a:lnTo>
                  <a:pt x="65" y="870"/>
                </a:lnTo>
                <a:lnTo>
                  <a:pt x="76" y="877"/>
                </a:lnTo>
                <a:lnTo>
                  <a:pt x="469" y="1097"/>
                </a:lnTo>
                <a:lnTo>
                  <a:pt x="939" y="834"/>
                </a:lnTo>
                <a:lnTo>
                  <a:pt x="939" y="114"/>
                </a:lnTo>
                <a:lnTo>
                  <a:pt x="938" y="101"/>
                </a:lnTo>
                <a:lnTo>
                  <a:pt x="936" y="90"/>
                </a:lnTo>
                <a:lnTo>
                  <a:pt x="933" y="78"/>
                </a:lnTo>
                <a:lnTo>
                  <a:pt x="929" y="67"/>
                </a:lnTo>
                <a:lnTo>
                  <a:pt x="923" y="57"/>
                </a:lnTo>
                <a:lnTo>
                  <a:pt x="917" y="47"/>
                </a:lnTo>
                <a:lnTo>
                  <a:pt x="910" y="38"/>
                </a:lnTo>
                <a:lnTo>
                  <a:pt x="902" y="30"/>
                </a:lnTo>
                <a:lnTo>
                  <a:pt x="893" y="22"/>
                </a:lnTo>
                <a:lnTo>
                  <a:pt x="883" y="16"/>
                </a:lnTo>
                <a:lnTo>
                  <a:pt x="872" y="11"/>
                </a:lnTo>
                <a:lnTo>
                  <a:pt x="861" y="6"/>
                </a:lnTo>
                <a:lnTo>
                  <a:pt x="850" y="3"/>
                </a:lnTo>
                <a:lnTo>
                  <a:pt x="838" y="1"/>
                </a:lnTo>
                <a:lnTo>
                  <a:pt x="826" y="0"/>
                </a:lnTo>
                <a:close/>
              </a:path>
            </a:pathLst>
          </a:custGeom>
          <a:solidFill>
            <a:srgbClr val="80BF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/>
            <a:endParaRPr lang="en-US" sz="1400">
              <a:solidFill>
                <a:srgbClr val="80BFF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113">
            <a:extLst>
              <a:ext uri="{FF2B5EF4-FFF2-40B4-BE49-F238E27FC236}">
                <a16:creationId xmlns:a16="http://schemas.microsoft.com/office/drawing/2014/main" id="{2ECEAE3F-A50E-00F4-04B0-2264FD94D2C9}"/>
              </a:ext>
            </a:extLst>
          </p:cNvPr>
          <p:cNvSpPr>
            <a:spLocks/>
          </p:cNvSpPr>
          <p:nvPr/>
        </p:nvSpPr>
        <p:spPr bwMode="auto">
          <a:xfrm>
            <a:off x="2649352" y="2887041"/>
            <a:ext cx="1668188" cy="2135125"/>
          </a:xfrm>
          <a:custGeom>
            <a:avLst/>
            <a:gdLst>
              <a:gd name="T0" fmla="*/ 826 w 939"/>
              <a:gd name="T1" fmla="*/ 0 h 1097"/>
              <a:gd name="T2" fmla="*/ 0 w 939"/>
              <a:gd name="T3" fmla="*/ 0 h 1097"/>
              <a:gd name="T4" fmla="*/ 0 w 939"/>
              <a:gd name="T5" fmla="*/ 748 h 1097"/>
              <a:gd name="T6" fmla="*/ 0 w 939"/>
              <a:gd name="T7" fmla="*/ 760 h 1097"/>
              <a:gd name="T8" fmla="*/ 2 w 939"/>
              <a:gd name="T9" fmla="*/ 772 h 1097"/>
              <a:gd name="T10" fmla="*/ 4 w 939"/>
              <a:gd name="T11" fmla="*/ 784 h 1097"/>
              <a:gd name="T12" fmla="*/ 8 w 939"/>
              <a:gd name="T13" fmla="*/ 795 h 1097"/>
              <a:gd name="T14" fmla="*/ 12 w 939"/>
              <a:gd name="T15" fmla="*/ 807 h 1097"/>
              <a:gd name="T16" fmla="*/ 17 w 939"/>
              <a:gd name="T17" fmla="*/ 817 h 1097"/>
              <a:gd name="T18" fmla="*/ 23 w 939"/>
              <a:gd name="T19" fmla="*/ 828 h 1097"/>
              <a:gd name="T20" fmla="*/ 30 w 939"/>
              <a:gd name="T21" fmla="*/ 837 h 1097"/>
              <a:gd name="T22" fmla="*/ 38 w 939"/>
              <a:gd name="T23" fmla="*/ 847 h 1097"/>
              <a:gd name="T24" fmla="*/ 46 w 939"/>
              <a:gd name="T25" fmla="*/ 855 h 1097"/>
              <a:gd name="T26" fmla="*/ 55 w 939"/>
              <a:gd name="T27" fmla="*/ 863 h 1097"/>
              <a:gd name="T28" fmla="*/ 65 w 939"/>
              <a:gd name="T29" fmla="*/ 870 h 1097"/>
              <a:gd name="T30" fmla="*/ 76 w 939"/>
              <a:gd name="T31" fmla="*/ 877 h 1097"/>
              <a:gd name="T32" fmla="*/ 469 w 939"/>
              <a:gd name="T33" fmla="*/ 1097 h 1097"/>
              <a:gd name="T34" fmla="*/ 939 w 939"/>
              <a:gd name="T35" fmla="*/ 834 h 1097"/>
              <a:gd name="T36" fmla="*/ 939 w 939"/>
              <a:gd name="T37" fmla="*/ 114 h 1097"/>
              <a:gd name="T38" fmla="*/ 938 w 939"/>
              <a:gd name="T39" fmla="*/ 101 h 1097"/>
              <a:gd name="T40" fmla="*/ 936 w 939"/>
              <a:gd name="T41" fmla="*/ 90 h 1097"/>
              <a:gd name="T42" fmla="*/ 933 w 939"/>
              <a:gd name="T43" fmla="*/ 78 h 1097"/>
              <a:gd name="T44" fmla="*/ 929 w 939"/>
              <a:gd name="T45" fmla="*/ 67 h 1097"/>
              <a:gd name="T46" fmla="*/ 923 w 939"/>
              <a:gd name="T47" fmla="*/ 57 h 1097"/>
              <a:gd name="T48" fmla="*/ 917 w 939"/>
              <a:gd name="T49" fmla="*/ 47 h 1097"/>
              <a:gd name="T50" fmla="*/ 910 w 939"/>
              <a:gd name="T51" fmla="*/ 38 h 1097"/>
              <a:gd name="T52" fmla="*/ 902 w 939"/>
              <a:gd name="T53" fmla="*/ 30 h 1097"/>
              <a:gd name="T54" fmla="*/ 893 w 939"/>
              <a:gd name="T55" fmla="*/ 22 h 1097"/>
              <a:gd name="T56" fmla="*/ 883 w 939"/>
              <a:gd name="T57" fmla="*/ 16 h 1097"/>
              <a:gd name="T58" fmla="*/ 872 w 939"/>
              <a:gd name="T59" fmla="*/ 11 h 1097"/>
              <a:gd name="T60" fmla="*/ 861 w 939"/>
              <a:gd name="T61" fmla="*/ 6 h 1097"/>
              <a:gd name="T62" fmla="*/ 850 w 939"/>
              <a:gd name="T63" fmla="*/ 3 h 1097"/>
              <a:gd name="T64" fmla="*/ 838 w 939"/>
              <a:gd name="T65" fmla="*/ 1 h 1097"/>
              <a:gd name="T66" fmla="*/ 826 w 939"/>
              <a:gd name="T67" fmla="*/ 0 h 1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9" h="1097">
                <a:moveTo>
                  <a:pt x="826" y="0"/>
                </a:moveTo>
                <a:lnTo>
                  <a:pt x="0" y="0"/>
                </a:lnTo>
                <a:lnTo>
                  <a:pt x="0" y="748"/>
                </a:lnTo>
                <a:lnTo>
                  <a:pt x="0" y="760"/>
                </a:lnTo>
                <a:lnTo>
                  <a:pt x="2" y="772"/>
                </a:lnTo>
                <a:lnTo>
                  <a:pt x="4" y="784"/>
                </a:lnTo>
                <a:lnTo>
                  <a:pt x="8" y="795"/>
                </a:lnTo>
                <a:lnTo>
                  <a:pt x="12" y="807"/>
                </a:lnTo>
                <a:lnTo>
                  <a:pt x="17" y="817"/>
                </a:lnTo>
                <a:lnTo>
                  <a:pt x="23" y="828"/>
                </a:lnTo>
                <a:lnTo>
                  <a:pt x="30" y="837"/>
                </a:lnTo>
                <a:lnTo>
                  <a:pt x="38" y="847"/>
                </a:lnTo>
                <a:lnTo>
                  <a:pt x="46" y="855"/>
                </a:lnTo>
                <a:lnTo>
                  <a:pt x="55" y="863"/>
                </a:lnTo>
                <a:lnTo>
                  <a:pt x="65" y="870"/>
                </a:lnTo>
                <a:lnTo>
                  <a:pt x="76" y="877"/>
                </a:lnTo>
                <a:lnTo>
                  <a:pt x="469" y="1097"/>
                </a:lnTo>
                <a:lnTo>
                  <a:pt x="939" y="834"/>
                </a:lnTo>
                <a:lnTo>
                  <a:pt x="939" y="114"/>
                </a:lnTo>
                <a:lnTo>
                  <a:pt x="938" y="101"/>
                </a:lnTo>
                <a:lnTo>
                  <a:pt x="936" y="90"/>
                </a:lnTo>
                <a:lnTo>
                  <a:pt x="933" y="78"/>
                </a:lnTo>
                <a:lnTo>
                  <a:pt x="929" y="67"/>
                </a:lnTo>
                <a:lnTo>
                  <a:pt x="923" y="57"/>
                </a:lnTo>
                <a:lnTo>
                  <a:pt x="917" y="47"/>
                </a:lnTo>
                <a:lnTo>
                  <a:pt x="910" y="38"/>
                </a:lnTo>
                <a:lnTo>
                  <a:pt x="902" y="30"/>
                </a:lnTo>
                <a:lnTo>
                  <a:pt x="893" y="22"/>
                </a:lnTo>
                <a:lnTo>
                  <a:pt x="883" y="16"/>
                </a:lnTo>
                <a:lnTo>
                  <a:pt x="872" y="11"/>
                </a:lnTo>
                <a:lnTo>
                  <a:pt x="861" y="6"/>
                </a:lnTo>
                <a:lnTo>
                  <a:pt x="850" y="3"/>
                </a:lnTo>
                <a:lnTo>
                  <a:pt x="838" y="1"/>
                </a:lnTo>
                <a:lnTo>
                  <a:pt x="826" y="0"/>
                </a:lnTo>
                <a:close/>
              </a:path>
            </a:pathLst>
          </a:custGeom>
          <a:solidFill>
            <a:srgbClr val="80BF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/>
            <a:endParaRPr lang="en-US" sz="1400">
              <a:solidFill>
                <a:srgbClr val="80BFF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614E805-B528-09FA-923D-CC444294FA26}"/>
              </a:ext>
            </a:extLst>
          </p:cNvPr>
          <p:cNvCxnSpPr>
            <a:cxnSpLocks/>
          </p:cNvCxnSpPr>
          <p:nvPr/>
        </p:nvCxnSpPr>
        <p:spPr>
          <a:xfrm>
            <a:off x="9325957" y="2124443"/>
            <a:ext cx="0" cy="3251880"/>
          </a:xfrm>
          <a:prstGeom prst="line">
            <a:avLst/>
          </a:prstGeom>
          <a:ln w="3175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reeform 113">
            <a:extLst>
              <a:ext uri="{FF2B5EF4-FFF2-40B4-BE49-F238E27FC236}">
                <a16:creationId xmlns:a16="http://schemas.microsoft.com/office/drawing/2014/main" id="{3D4242DB-7BE1-A315-886C-4AEA78DDBC54}"/>
              </a:ext>
            </a:extLst>
          </p:cNvPr>
          <p:cNvSpPr>
            <a:spLocks/>
          </p:cNvSpPr>
          <p:nvPr/>
        </p:nvSpPr>
        <p:spPr bwMode="auto">
          <a:xfrm>
            <a:off x="9797670" y="2896447"/>
            <a:ext cx="1668188" cy="2135125"/>
          </a:xfrm>
          <a:custGeom>
            <a:avLst/>
            <a:gdLst>
              <a:gd name="T0" fmla="*/ 826 w 939"/>
              <a:gd name="T1" fmla="*/ 0 h 1097"/>
              <a:gd name="T2" fmla="*/ 0 w 939"/>
              <a:gd name="T3" fmla="*/ 0 h 1097"/>
              <a:gd name="T4" fmla="*/ 0 w 939"/>
              <a:gd name="T5" fmla="*/ 748 h 1097"/>
              <a:gd name="T6" fmla="*/ 0 w 939"/>
              <a:gd name="T7" fmla="*/ 760 h 1097"/>
              <a:gd name="T8" fmla="*/ 2 w 939"/>
              <a:gd name="T9" fmla="*/ 772 h 1097"/>
              <a:gd name="T10" fmla="*/ 4 w 939"/>
              <a:gd name="T11" fmla="*/ 784 h 1097"/>
              <a:gd name="T12" fmla="*/ 8 w 939"/>
              <a:gd name="T13" fmla="*/ 795 h 1097"/>
              <a:gd name="T14" fmla="*/ 12 w 939"/>
              <a:gd name="T15" fmla="*/ 807 h 1097"/>
              <a:gd name="T16" fmla="*/ 17 w 939"/>
              <a:gd name="T17" fmla="*/ 817 h 1097"/>
              <a:gd name="T18" fmla="*/ 23 w 939"/>
              <a:gd name="T19" fmla="*/ 828 h 1097"/>
              <a:gd name="T20" fmla="*/ 30 w 939"/>
              <a:gd name="T21" fmla="*/ 837 h 1097"/>
              <a:gd name="T22" fmla="*/ 38 w 939"/>
              <a:gd name="T23" fmla="*/ 847 h 1097"/>
              <a:gd name="T24" fmla="*/ 46 w 939"/>
              <a:gd name="T25" fmla="*/ 855 h 1097"/>
              <a:gd name="T26" fmla="*/ 55 w 939"/>
              <a:gd name="T27" fmla="*/ 863 h 1097"/>
              <a:gd name="T28" fmla="*/ 65 w 939"/>
              <a:gd name="T29" fmla="*/ 870 h 1097"/>
              <a:gd name="T30" fmla="*/ 76 w 939"/>
              <a:gd name="T31" fmla="*/ 877 h 1097"/>
              <a:gd name="T32" fmla="*/ 469 w 939"/>
              <a:gd name="T33" fmla="*/ 1097 h 1097"/>
              <a:gd name="T34" fmla="*/ 939 w 939"/>
              <a:gd name="T35" fmla="*/ 834 h 1097"/>
              <a:gd name="T36" fmla="*/ 939 w 939"/>
              <a:gd name="T37" fmla="*/ 114 h 1097"/>
              <a:gd name="T38" fmla="*/ 938 w 939"/>
              <a:gd name="T39" fmla="*/ 101 h 1097"/>
              <a:gd name="T40" fmla="*/ 936 w 939"/>
              <a:gd name="T41" fmla="*/ 90 h 1097"/>
              <a:gd name="T42" fmla="*/ 933 w 939"/>
              <a:gd name="T43" fmla="*/ 78 h 1097"/>
              <a:gd name="T44" fmla="*/ 929 w 939"/>
              <a:gd name="T45" fmla="*/ 67 h 1097"/>
              <a:gd name="T46" fmla="*/ 923 w 939"/>
              <a:gd name="T47" fmla="*/ 57 h 1097"/>
              <a:gd name="T48" fmla="*/ 917 w 939"/>
              <a:gd name="T49" fmla="*/ 47 h 1097"/>
              <a:gd name="T50" fmla="*/ 910 w 939"/>
              <a:gd name="T51" fmla="*/ 38 h 1097"/>
              <a:gd name="T52" fmla="*/ 902 w 939"/>
              <a:gd name="T53" fmla="*/ 30 h 1097"/>
              <a:gd name="T54" fmla="*/ 893 w 939"/>
              <a:gd name="T55" fmla="*/ 22 h 1097"/>
              <a:gd name="T56" fmla="*/ 883 w 939"/>
              <a:gd name="T57" fmla="*/ 16 h 1097"/>
              <a:gd name="T58" fmla="*/ 872 w 939"/>
              <a:gd name="T59" fmla="*/ 11 h 1097"/>
              <a:gd name="T60" fmla="*/ 861 w 939"/>
              <a:gd name="T61" fmla="*/ 6 h 1097"/>
              <a:gd name="T62" fmla="*/ 850 w 939"/>
              <a:gd name="T63" fmla="*/ 3 h 1097"/>
              <a:gd name="T64" fmla="*/ 838 w 939"/>
              <a:gd name="T65" fmla="*/ 1 h 1097"/>
              <a:gd name="T66" fmla="*/ 826 w 939"/>
              <a:gd name="T67" fmla="*/ 0 h 1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9" h="1097">
                <a:moveTo>
                  <a:pt x="826" y="0"/>
                </a:moveTo>
                <a:lnTo>
                  <a:pt x="0" y="0"/>
                </a:lnTo>
                <a:lnTo>
                  <a:pt x="0" y="748"/>
                </a:lnTo>
                <a:lnTo>
                  <a:pt x="0" y="760"/>
                </a:lnTo>
                <a:lnTo>
                  <a:pt x="2" y="772"/>
                </a:lnTo>
                <a:lnTo>
                  <a:pt x="4" y="784"/>
                </a:lnTo>
                <a:lnTo>
                  <a:pt x="8" y="795"/>
                </a:lnTo>
                <a:lnTo>
                  <a:pt x="12" y="807"/>
                </a:lnTo>
                <a:lnTo>
                  <a:pt x="17" y="817"/>
                </a:lnTo>
                <a:lnTo>
                  <a:pt x="23" y="828"/>
                </a:lnTo>
                <a:lnTo>
                  <a:pt x="30" y="837"/>
                </a:lnTo>
                <a:lnTo>
                  <a:pt x="38" y="847"/>
                </a:lnTo>
                <a:lnTo>
                  <a:pt x="46" y="855"/>
                </a:lnTo>
                <a:lnTo>
                  <a:pt x="55" y="863"/>
                </a:lnTo>
                <a:lnTo>
                  <a:pt x="65" y="870"/>
                </a:lnTo>
                <a:lnTo>
                  <a:pt x="76" y="877"/>
                </a:lnTo>
                <a:lnTo>
                  <a:pt x="469" y="1097"/>
                </a:lnTo>
                <a:lnTo>
                  <a:pt x="939" y="834"/>
                </a:lnTo>
                <a:lnTo>
                  <a:pt x="939" y="114"/>
                </a:lnTo>
                <a:lnTo>
                  <a:pt x="938" y="101"/>
                </a:lnTo>
                <a:lnTo>
                  <a:pt x="936" y="90"/>
                </a:lnTo>
                <a:lnTo>
                  <a:pt x="933" y="78"/>
                </a:lnTo>
                <a:lnTo>
                  <a:pt x="929" y="67"/>
                </a:lnTo>
                <a:lnTo>
                  <a:pt x="923" y="57"/>
                </a:lnTo>
                <a:lnTo>
                  <a:pt x="917" y="47"/>
                </a:lnTo>
                <a:lnTo>
                  <a:pt x="910" y="38"/>
                </a:lnTo>
                <a:lnTo>
                  <a:pt x="902" y="30"/>
                </a:lnTo>
                <a:lnTo>
                  <a:pt x="893" y="22"/>
                </a:lnTo>
                <a:lnTo>
                  <a:pt x="883" y="16"/>
                </a:lnTo>
                <a:lnTo>
                  <a:pt x="872" y="11"/>
                </a:lnTo>
                <a:lnTo>
                  <a:pt x="861" y="6"/>
                </a:lnTo>
                <a:lnTo>
                  <a:pt x="850" y="3"/>
                </a:lnTo>
                <a:lnTo>
                  <a:pt x="838" y="1"/>
                </a:lnTo>
                <a:lnTo>
                  <a:pt x="826" y="0"/>
                </a:lnTo>
                <a:close/>
              </a:path>
            </a:pathLst>
          </a:custGeom>
          <a:solidFill>
            <a:srgbClr val="80BF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/>
            <a:endParaRPr lang="en-US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ounded Rectangle 28">
            <a:extLst>
              <a:ext uri="{FF2B5EF4-FFF2-40B4-BE49-F238E27FC236}">
                <a16:creationId xmlns:a16="http://schemas.microsoft.com/office/drawing/2014/main" id="{A75DE533-383E-7070-A2B7-FB0BCA8A956F}"/>
              </a:ext>
            </a:extLst>
          </p:cNvPr>
          <p:cNvSpPr>
            <a:spLocks/>
          </p:cNvSpPr>
          <p:nvPr/>
        </p:nvSpPr>
        <p:spPr>
          <a:xfrm>
            <a:off x="667125" y="5707262"/>
            <a:ext cx="10798731" cy="297523"/>
          </a:xfrm>
          <a:prstGeom prst="round2Diag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rgbClr val="7F134C"/>
              </a:buClr>
            </a:pPr>
            <a:endParaRPr lang="en-US" b="1" dirty="0">
              <a:solidFill>
                <a:schemeClr val="tx1"/>
              </a:solidFill>
              <a:latin typeface="Arial" panose="020B0604020202020204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EC08B78-F5CF-97D8-D37B-AED2812A51AB}"/>
              </a:ext>
            </a:extLst>
          </p:cNvPr>
          <p:cNvGrpSpPr/>
          <p:nvPr/>
        </p:nvGrpSpPr>
        <p:grpSpPr>
          <a:xfrm>
            <a:off x="459598" y="6254899"/>
            <a:ext cx="3189253" cy="184666"/>
            <a:chOff x="394508" y="6229522"/>
            <a:chExt cx="3189253" cy="18466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2426DE-4B7D-9C9B-1004-78EA70898D69}"/>
                </a:ext>
              </a:extLst>
            </p:cNvPr>
            <p:cNvSpPr/>
            <p:nvPr/>
          </p:nvSpPr>
          <p:spPr>
            <a:xfrm>
              <a:off x="2381188" y="6229522"/>
              <a:ext cx="120257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Pooled DAPA-HF + DELIVER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CB04566-DE0B-8D26-E548-94CFB9592582}"/>
                </a:ext>
              </a:extLst>
            </p:cNvPr>
            <p:cNvSpPr txBox="1"/>
            <p:nvPr/>
          </p:nvSpPr>
          <p:spPr>
            <a:xfrm>
              <a:off x="394508" y="6234157"/>
              <a:ext cx="2537908" cy="175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Aft>
                  <a:spcPts val="600"/>
                </a:spcAft>
                <a:defRPr sz="800"/>
              </a:lvl1pPr>
            </a:lstStyle>
            <a:p>
              <a:r>
                <a:rPr lang="da-DK" sz="600" dirty="0">
                  <a:latin typeface="Arial" panose="020B0604020202020204" pitchFamily="34" charset="0"/>
                  <a:cs typeface="Arial" panose="020B0604020202020204" pitchFamily="34" charset="0"/>
                </a:rPr>
                <a:t>Jhund PS </a:t>
              </a:r>
              <a:r>
                <a:rPr lang="da-DK" sz="600" i="1" dirty="0">
                  <a:latin typeface="Arial" panose="020B0604020202020204" pitchFamily="34" charset="0"/>
                  <a:cs typeface="Arial" panose="020B0604020202020204" pitchFamily="34" charset="0"/>
                </a:rPr>
                <a:t>et al. Nat Med</a:t>
              </a:r>
              <a:r>
                <a:rPr lang="da-DK" sz="600" dirty="0">
                  <a:latin typeface="Arial" panose="020B0604020202020204" pitchFamily="34" charset="0"/>
                  <a:cs typeface="Arial" panose="020B0604020202020204" pitchFamily="34" charset="0"/>
                </a:rPr>
                <a:t>. 2022;28(9):1956-1964</a:t>
              </a:r>
              <a:endParaRPr lang="en-US" sz="600" dirty="0" err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9D83DE4-2C10-6E35-81F0-44891AF131B5}"/>
              </a:ext>
            </a:extLst>
          </p:cNvPr>
          <p:cNvSpPr/>
          <p:nvPr/>
        </p:nvSpPr>
        <p:spPr>
          <a:xfrm>
            <a:off x="0" y="0"/>
            <a:ext cx="254524" cy="1010108"/>
          </a:xfrm>
          <a:prstGeom prst="rect">
            <a:avLst/>
          </a:prstGeom>
          <a:solidFill>
            <a:srgbClr val="050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1C209F-B0F2-FE84-C5BD-532A9DE540C2}"/>
              </a:ext>
            </a:extLst>
          </p:cNvPr>
          <p:cNvSpPr/>
          <p:nvPr/>
        </p:nvSpPr>
        <p:spPr>
          <a:xfrm flipH="1">
            <a:off x="347661" y="-1"/>
            <a:ext cx="45719" cy="10101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B0F0"/>
              </a:solidFill>
            </a:endParaRPr>
          </a:p>
        </p:txBody>
      </p:sp>
      <p:sp>
        <p:nvSpPr>
          <p:cNvPr id="72" name="Title 4">
            <a:extLst>
              <a:ext uri="{FF2B5EF4-FFF2-40B4-BE49-F238E27FC236}">
                <a16:creationId xmlns:a16="http://schemas.microsoft.com/office/drawing/2014/main" id="{952FE330-10D5-DBB6-E70C-BD009B305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2414"/>
            <a:ext cx="9901287" cy="57796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50040"/>
                </a:solidFill>
                <a:effectLst/>
                <a:latin typeface="Arial Rounded MT Bold" panose="020F0704030504030204" pitchFamily="34" charset="0"/>
              </a:rPr>
              <a:t>XXXXXXXXXX</a:t>
            </a:r>
            <a:endParaRPr lang="en-GB" sz="2400" b="1" dirty="0">
              <a:solidFill>
                <a:srgbClr val="050040"/>
              </a:solidFill>
              <a:effectLst/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485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C08C-91A2-50B9-9F19-71E12E847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56E5A5-FF73-B3EB-FE19-82B3709D6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B28160-CE3F-F5DC-F86E-D2D0663831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3" t="3987" r="4421" b="2267"/>
          <a:stretch>
            <a:fillRect/>
          </a:stretch>
        </p:blipFill>
        <p:spPr>
          <a:xfrm>
            <a:off x="2683497" y="541496"/>
            <a:ext cx="6825006" cy="577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974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86</TotalTime>
  <Words>298</Words>
  <Application>Microsoft Office PowerPoint</Application>
  <PresentationFormat>Widescreen</PresentationFormat>
  <Paragraphs>22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Aharoni</vt:lpstr>
      <vt:lpstr>Aptos</vt:lpstr>
      <vt:lpstr>Arial</vt:lpstr>
      <vt:lpstr>Arial Rounded MT Bold</vt:lpstr>
      <vt:lpstr>Calibri</vt:lpstr>
      <vt:lpstr>Calibri Light</vt:lpstr>
      <vt:lpstr>Office Theme</vt:lpstr>
      <vt:lpstr>PowerPoint Presentation</vt:lpstr>
      <vt:lpstr>XXXXXXXXXXXXX</vt:lpstr>
      <vt:lpstr>PowerPoint Presentation</vt:lpstr>
      <vt:lpstr>XXXXXXXXXX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Dhara, Prosenjit</dc:creator>
  <cp:lastModifiedBy>Keyur Makadia</cp:lastModifiedBy>
  <cp:revision>11</cp:revision>
  <dcterms:created xsi:type="dcterms:W3CDTF">2025-12-04T07:30:36Z</dcterms:created>
  <dcterms:modified xsi:type="dcterms:W3CDTF">2025-12-22T06:03:08Z</dcterms:modified>
</cp:coreProperties>
</file>